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9144000" cy="7921625"/>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74" y="-114"/>
      </p:cViewPr>
      <p:guideLst>
        <p:guide orient="horz" pos="249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626070-E1EE-4579-8938-841A826A6516}" type="datetimeFigureOut">
              <a:rPr lang="de-CH" smtClean="0"/>
              <a:t>22.11.2024</a:t>
            </a:fld>
            <a:endParaRPr lang="de-CH"/>
          </a:p>
        </p:txBody>
      </p:sp>
      <p:sp>
        <p:nvSpPr>
          <p:cNvPr id="4" name="Slide Image Placeholder 3"/>
          <p:cNvSpPr>
            <a:spLocks noGrp="1" noRot="1" noChangeAspect="1"/>
          </p:cNvSpPr>
          <p:nvPr>
            <p:ph type="sldImg" idx="2"/>
          </p:nvPr>
        </p:nvSpPr>
        <p:spPr>
          <a:xfrm>
            <a:off x="1449388" y="685800"/>
            <a:ext cx="3959225" cy="34290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CE829B-4427-4D8A-8755-0EE7FA2D212F}" type="slidenum">
              <a:rPr lang="de-CH" smtClean="0"/>
              <a:t>‹#›</a:t>
            </a:fld>
            <a:endParaRPr lang="de-CH"/>
          </a:p>
        </p:txBody>
      </p:sp>
    </p:spTree>
    <p:extLst>
      <p:ext uri="{BB962C8B-B14F-4D97-AF65-F5344CB8AC3E}">
        <p14:creationId xmlns:p14="http://schemas.microsoft.com/office/powerpoint/2010/main" val="2498214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49388" y="685800"/>
            <a:ext cx="3959225" cy="3429000"/>
          </a:xfrm>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D4CE829B-4427-4D8A-8755-0EE7FA2D212F}" type="slidenum">
              <a:rPr lang="de-CH" smtClean="0"/>
              <a:t>1</a:t>
            </a:fld>
            <a:endParaRPr lang="de-CH"/>
          </a:p>
        </p:txBody>
      </p:sp>
    </p:spTree>
    <p:extLst>
      <p:ext uri="{BB962C8B-B14F-4D97-AF65-F5344CB8AC3E}">
        <p14:creationId xmlns:p14="http://schemas.microsoft.com/office/powerpoint/2010/main" val="896665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60839"/>
            <a:ext cx="7772400" cy="1698015"/>
          </a:xfrm>
        </p:spPr>
        <p:txBody>
          <a:bodyPr/>
          <a:lstStyle/>
          <a:p>
            <a:r>
              <a:rPr lang="en-US" smtClean="0"/>
              <a:t>Click to edit Master title style</a:t>
            </a:r>
            <a:endParaRPr lang="de-CH"/>
          </a:p>
        </p:txBody>
      </p:sp>
      <p:sp>
        <p:nvSpPr>
          <p:cNvPr id="3" name="Subtitle 2"/>
          <p:cNvSpPr>
            <a:spLocks noGrp="1"/>
          </p:cNvSpPr>
          <p:nvPr>
            <p:ph type="subTitle" idx="1"/>
          </p:nvPr>
        </p:nvSpPr>
        <p:spPr>
          <a:xfrm>
            <a:off x="1371600" y="4488921"/>
            <a:ext cx="6400800" cy="2024415"/>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6BDED668-EAB4-47BF-A0FF-D2476041D516}" type="datetimeFigureOut">
              <a:rPr lang="de-CH" smtClean="0"/>
              <a:t>22.11.2024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2085142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6BDED668-EAB4-47BF-A0FF-D2476041D516}" type="datetimeFigureOut">
              <a:rPr lang="de-CH" smtClean="0"/>
              <a:t>22.11.2024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3574384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090378"/>
            <a:ext cx="7772400" cy="1573323"/>
          </a:xfrm>
        </p:spPr>
        <p:txBody>
          <a:bodyPr anchor="t"/>
          <a:lstStyle>
            <a:lvl1pPr algn="l">
              <a:defRPr sz="4000" b="1" cap="all"/>
            </a:lvl1pPr>
          </a:lstStyle>
          <a:p>
            <a:r>
              <a:rPr lang="en-US" smtClean="0"/>
              <a:t>Click to edit Master title style</a:t>
            </a:r>
            <a:endParaRPr lang="de-CH"/>
          </a:p>
        </p:txBody>
      </p:sp>
      <p:sp>
        <p:nvSpPr>
          <p:cNvPr id="3" name="Text Placeholder 2"/>
          <p:cNvSpPr>
            <a:spLocks noGrp="1"/>
          </p:cNvSpPr>
          <p:nvPr>
            <p:ph type="body" idx="1"/>
          </p:nvPr>
        </p:nvSpPr>
        <p:spPr>
          <a:xfrm>
            <a:off x="722313" y="3357523"/>
            <a:ext cx="7772400" cy="1732855"/>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DED668-EAB4-47BF-A0FF-D2476041D516}" type="datetimeFigureOut">
              <a:rPr lang="de-CH" smtClean="0"/>
              <a:t>22.11.2024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696490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457200" y="1848380"/>
            <a:ext cx="4038600" cy="522790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4648200" y="1848380"/>
            <a:ext cx="4038600" cy="522790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6BDED668-EAB4-47BF-A0FF-D2476041D516}" type="datetimeFigureOut">
              <a:rPr lang="de-CH" smtClean="0"/>
              <a:t>22.11.2024</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2655228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de-CH"/>
          </a:p>
        </p:txBody>
      </p:sp>
      <p:sp>
        <p:nvSpPr>
          <p:cNvPr id="3" name="Text Placeholder 2"/>
          <p:cNvSpPr>
            <a:spLocks noGrp="1"/>
          </p:cNvSpPr>
          <p:nvPr>
            <p:ph type="body" idx="1"/>
          </p:nvPr>
        </p:nvSpPr>
        <p:spPr>
          <a:xfrm>
            <a:off x="457200" y="1773198"/>
            <a:ext cx="4040188" cy="73898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512182"/>
            <a:ext cx="4040188" cy="456410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4645026" y="1773198"/>
            <a:ext cx="4041775" cy="73898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512182"/>
            <a:ext cx="4041775" cy="456410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6BDED668-EAB4-47BF-A0FF-D2476041D516}" type="datetimeFigureOut">
              <a:rPr lang="de-CH" smtClean="0"/>
              <a:t>22.11.2024</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3799559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6BDED668-EAB4-47BF-A0FF-D2476041D516}" type="datetimeFigureOut">
              <a:rPr lang="de-CH" smtClean="0"/>
              <a:t>22.11.2024</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264515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DED668-EAB4-47BF-A0FF-D2476041D516}" type="datetimeFigureOut">
              <a:rPr lang="de-CH" smtClean="0"/>
              <a:t>22.11.2024</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3566404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315398"/>
            <a:ext cx="3008313" cy="1342275"/>
          </a:xfrm>
        </p:spPr>
        <p:txBody>
          <a:bodyPr anchor="b"/>
          <a:lstStyle>
            <a:lvl1pPr algn="l">
              <a:defRPr sz="2000" b="1"/>
            </a:lvl1pPr>
          </a:lstStyle>
          <a:p>
            <a:r>
              <a:rPr lang="en-US" smtClean="0"/>
              <a:t>Click to edit Master title style</a:t>
            </a:r>
            <a:endParaRPr lang="de-CH"/>
          </a:p>
        </p:txBody>
      </p:sp>
      <p:sp>
        <p:nvSpPr>
          <p:cNvPr id="3" name="Content Placeholder 2"/>
          <p:cNvSpPr>
            <a:spLocks noGrp="1"/>
          </p:cNvSpPr>
          <p:nvPr>
            <p:ph idx="1"/>
          </p:nvPr>
        </p:nvSpPr>
        <p:spPr>
          <a:xfrm>
            <a:off x="3575050" y="315399"/>
            <a:ext cx="5111750" cy="67608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457201" y="1657674"/>
            <a:ext cx="3008313" cy="54186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DED668-EAB4-47BF-A0FF-D2476041D516}" type="datetimeFigureOut">
              <a:rPr lang="de-CH" smtClean="0"/>
              <a:t>22.11.2024</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4172076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545137"/>
            <a:ext cx="5486400" cy="654635"/>
          </a:xfrm>
        </p:spPr>
        <p:txBody>
          <a:bodyPr anchor="b"/>
          <a:lstStyle>
            <a:lvl1pPr algn="l">
              <a:defRPr sz="2000" b="1"/>
            </a:lvl1pPr>
          </a:lstStyle>
          <a:p>
            <a:r>
              <a:rPr lang="en-US" smtClean="0"/>
              <a:t>Click to edit Master title style</a:t>
            </a:r>
            <a:endParaRPr lang="de-CH"/>
          </a:p>
        </p:txBody>
      </p:sp>
      <p:sp>
        <p:nvSpPr>
          <p:cNvPr id="3" name="Picture Placeholder 2"/>
          <p:cNvSpPr>
            <a:spLocks noGrp="1"/>
          </p:cNvSpPr>
          <p:nvPr>
            <p:ph type="pic" idx="1"/>
          </p:nvPr>
        </p:nvSpPr>
        <p:spPr>
          <a:xfrm>
            <a:off x="1792288" y="707812"/>
            <a:ext cx="5486400" cy="47529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1792288" y="6199772"/>
            <a:ext cx="5486400" cy="92969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DED668-EAB4-47BF-A0FF-D2476041D516}" type="datetimeFigureOut">
              <a:rPr lang="de-CH" smtClean="0"/>
              <a:t>22.11.2024</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1262941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6BDED668-EAB4-47BF-A0FF-D2476041D516}" type="datetimeFigureOut">
              <a:rPr lang="de-CH" smtClean="0"/>
              <a:t>22.11.2024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3644247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17233"/>
            <a:ext cx="2057400" cy="6759053"/>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457200" y="317233"/>
            <a:ext cx="6019800" cy="675905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6BDED668-EAB4-47BF-A0FF-D2476041D516}" type="datetimeFigureOut">
              <a:rPr lang="de-CH" smtClean="0"/>
              <a:t>22.11.2024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D696802-1A5C-4F89-B485-A2455A45551C}" type="slidenum">
              <a:rPr lang="de-CH" smtClean="0"/>
              <a:t>‹#›</a:t>
            </a:fld>
            <a:endParaRPr lang="de-CH"/>
          </a:p>
        </p:txBody>
      </p:sp>
    </p:spTree>
    <p:extLst>
      <p:ext uri="{BB962C8B-B14F-4D97-AF65-F5344CB8AC3E}">
        <p14:creationId xmlns:p14="http://schemas.microsoft.com/office/powerpoint/2010/main" val="3756269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17232"/>
            <a:ext cx="8229600" cy="1320271"/>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457200" y="1848380"/>
            <a:ext cx="8229600" cy="522790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457200" y="7342173"/>
            <a:ext cx="2133600" cy="421753"/>
          </a:xfrm>
          <a:prstGeom prst="rect">
            <a:avLst/>
          </a:prstGeom>
        </p:spPr>
        <p:txBody>
          <a:bodyPr vert="horz" lIns="91440" tIns="45720" rIns="91440" bIns="45720" rtlCol="0" anchor="ctr"/>
          <a:lstStyle>
            <a:lvl1pPr algn="l">
              <a:defRPr sz="1200">
                <a:solidFill>
                  <a:schemeClr val="tx1">
                    <a:tint val="75000"/>
                  </a:schemeClr>
                </a:solidFill>
              </a:defRPr>
            </a:lvl1pPr>
          </a:lstStyle>
          <a:p>
            <a:fld id="{6BDED668-EAB4-47BF-A0FF-D2476041D516}" type="datetimeFigureOut">
              <a:rPr lang="de-CH" smtClean="0"/>
              <a:t>22.11.2024</a:t>
            </a:fld>
            <a:endParaRPr lang="de-CH"/>
          </a:p>
        </p:txBody>
      </p:sp>
      <p:sp>
        <p:nvSpPr>
          <p:cNvPr id="5" name="Footer Placeholder 4"/>
          <p:cNvSpPr>
            <a:spLocks noGrp="1"/>
          </p:cNvSpPr>
          <p:nvPr>
            <p:ph type="ftr" sz="quarter" idx="3"/>
          </p:nvPr>
        </p:nvSpPr>
        <p:spPr>
          <a:xfrm>
            <a:off x="3124200" y="7342173"/>
            <a:ext cx="2895600" cy="42175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6553200" y="7342173"/>
            <a:ext cx="2133600" cy="421753"/>
          </a:xfrm>
          <a:prstGeom prst="rect">
            <a:avLst/>
          </a:prstGeom>
        </p:spPr>
        <p:txBody>
          <a:bodyPr vert="horz" lIns="91440" tIns="45720" rIns="91440" bIns="45720" rtlCol="0" anchor="ctr"/>
          <a:lstStyle>
            <a:lvl1pPr algn="r">
              <a:defRPr sz="1200">
                <a:solidFill>
                  <a:schemeClr val="tx1">
                    <a:tint val="75000"/>
                  </a:schemeClr>
                </a:solidFill>
              </a:defRPr>
            </a:lvl1pPr>
          </a:lstStyle>
          <a:p>
            <a:fld id="{4D696802-1A5C-4F89-B485-A2455A45551C}" type="slidenum">
              <a:rPr lang="de-CH" smtClean="0"/>
              <a:t>‹#›</a:t>
            </a:fld>
            <a:endParaRPr lang="de-CH"/>
          </a:p>
        </p:txBody>
      </p:sp>
    </p:spTree>
    <p:extLst>
      <p:ext uri="{BB962C8B-B14F-4D97-AF65-F5344CB8AC3E}">
        <p14:creationId xmlns:p14="http://schemas.microsoft.com/office/powerpoint/2010/main" val="1043966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PREDICTING THE FUTURE OF HUMANITY</a:t>
            </a:r>
            <a:endParaRPr lang="de-CH" dirty="0"/>
          </a:p>
        </p:txBody>
      </p:sp>
      <p:sp>
        <p:nvSpPr>
          <p:cNvPr id="3" name="Subtitle 2"/>
          <p:cNvSpPr>
            <a:spLocks noGrp="1"/>
          </p:cNvSpPr>
          <p:nvPr>
            <p:ph idx="1"/>
          </p:nvPr>
        </p:nvSpPr>
        <p:spPr>
          <a:xfrm>
            <a:off x="457200" y="1848379"/>
            <a:ext cx="8229600" cy="5772173"/>
          </a:xfrm>
        </p:spPr>
        <p:txBody>
          <a:bodyPr>
            <a:normAutofit/>
          </a:bodyPr>
          <a:lstStyle/>
          <a:p>
            <a:pPr marL="457200" lvl="1" indent="0">
              <a:buNone/>
            </a:pPr>
            <a:r>
              <a:rPr lang="en-US" sz="1800" dirty="0" smtClean="0"/>
              <a:t>As the world moves into the future new technologies emerge. Just a few decades ago we didn’t know anything about cell phones, internet, and even earlier we only rode horses and used candles at our homes. We didn’t know that in the future we will have such things as cars, planes and other transport that will make our trips easier, faster and more comfortable. We didn’t know that we won’t use candles anymore because all the light will be electric. Also due to the presence of electricity we can make new engines and devices that will replace our work.</a:t>
            </a:r>
            <a:r>
              <a:rPr lang="de-CH" sz="1800" dirty="0" smtClean="0"/>
              <a:t> </a:t>
            </a:r>
          </a:p>
          <a:p>
            <a:pPr marL="457200" lvl="1" indent="0">
              <a:buNone/>
            </a:pPr>
            <a:r>
              <a:rPr lang="de-CH" sz="1800" dirty="0"/>
              <a:t>	</a:t>
            </a:r>
            <a:r>
              <a:rPr lang="de-CH" sz="1800" dirty="0" err="1" smtClean="0"/>
              <a:t>With</a:t>
            </a:r>
            <a:r>
              <a:rPr lang="de-CH" sz="1800" dirty="0" smtClean="0"/>
              <a:t> </a:t>
            </a:r>
            <a:r>
              <a:rPr lang="de-CH" sz="1800" dirty="0" err="1" smtClean="0"/>
              <a:t>the</a:t>
            </a:r>
            <a:r>
              <a:rPr lang="de-CH" sz="1800" dirty="0" smtClean="0"/>
              <a:t> </a:t>
            </a:r>
            <a:r>
              <a:rPr lang="de-CH" sz="1800" dirty="0" err="1" smtClean="0"/>
              <a:t>emergence</a:t>
            </a:r>
            <a:r>
              <a:rPr lang="de-CH" sz="1800" dirty="0" smtClean="0"/>
              <a:t> </a:t>
            </a:r>
            <a:r>
              <a:rPr lang="de-CH" sz="1800" dirty="0" err="1" smtClean="0"/>
              <a:t>of</a:t>
            </a:r>
            <a:r>
              <a:rPr lang="de-CH" sz="1800" dirty="0" smtClean="0"/>
              <a:t> </a:t>
            </a:r>
            <a:r>
              <a:rPr lang="de-CH" sz="1800" dirty="0" err="1" smtClean="0"/>
              <a:t>new</a:t>
            </a:r>
            <a:r>
              <a:rPr lang="de-CH" sz="1800" dirty="0" smtClean="0"/>
              <a:t> </a:t>
            </a:r>
            <a:r>
              <a:rPr lang="de-CH" sz="1800" dirty="0" err="1" smtClean="0"/>
              <a:t>technologies</a:t>
            </a:r>
            <a:r>
              <a:rPr lang="de-CH" sz="1800" dirty="0" smtClean="0"/>
              <a:t> </a:t>
            </a:r>
            <a:r>
              <a:rPr lang="de-CH" sz="1800" dirty="0" err="1" smtClean="0"/>
              <a:t>we</a:t>
            </a:r>
            <a:r>
              <a:rPr lang="de-CH" sz="1800" dirty="0" smtClean="0"/>
              <a:t> </a:t>
            </a:r>
            <a:r>
              <a:rPr lang="de-CH" sz="1800" dirty="0" err="1" smtClean="0"/>
              <a:t>have</a:t>
            </a:r>
            <a:r>
              <a:rPr lang="de-CH" sz="1800" dirty="0" smtClean="0"/>
              <a:t> </a:t>
            </a:r>
            <a:r>
              <a:rPr lang="de-CH" sz="1800" dirty="0" err="1" smtClean="0"/>
              <a:t>more</a:t>
            </a:r>
            <a:r>
              <a:rPr lang="de-CH" sz="1800" dirty="0" smtClean="0"/>
              <a:t> </a:t>
            </a:r>
            <a:r>
              <a:rPr lang="de-CH" sz="1800" dirty="0" err="1" smtClean="0"/>
              <a:t>possiblities</a:t>
            </a:r>
            <a:r>
              <a:rPr lang="de-CH" sz="1800" dirty="0" smtClean="0"/>
              <a:t> </a:t>
            </a:r>
            <a:r>
              <a:rPr lang="de-CH" sz="1800" dirty="0" err="1" smtClean="0"/>
              <a:t>that</a:t>
            </a:r>
            <a:r>
              <a:rPr lang="de-CH" sz="1800" dirty="0" smtClean="0"/>
              <a:t> </a:t>
            </a:r>
            <a:r>
              <a:rPr lang="de-CH" sz="1800" dirty="0" err="1" smtClean="0"/>
              <a:t>we</a:t>
            </a:r>
            <a:r>
              <a:rPr lang="de-CH" sz="1800" dirty="0" smtClean="0"/>
              <a:t> </a:t>
            </a:r>
            <a:r>
              <a:rPr lang="de-CH" sz="1800" dirty="0" err="1" smtClean="0"/>
              <a:t>once</a:t>
            </a:r>
            <a:r>
              <a:rPr lang="de-CH" sz="1800" dirty="0" smtClean="0"/>
              <a:t> </a:t>
            </a:r>
            <a:r>
              <a:rPr lang="de-CH" sz="1800" dirty="0" err="1" smtClean="0"/>
              <a:t>considered</a:t>
            </a:r>
            <a:r>
              <a:rPr lang="de-CH" sz="1800" dirty="0" smtClean="0"/>
              <a:t> </a:t>
            </a:r>
            <a:r>
              <a:rPr lang="de-CH" sz="1800" dirty="0" err="1" smtClean="0"/>
              <a:t>the</a:t>
            </a:r>
            <a:r>
              <a:rPr lang="de-CH" sz="1800" dirty="0" smtClean="0"/>
              <a:t> </a:t>
            </a:r>
            <a:r>
              <a:rPr lang="de-CH" sz="1800" dirty="0" err="1" smtClean="0"/>
              <a:t>miracle</a:t>
            </a:r>
            <a:r>
              <a:rPr lang="de-CH" sz="1800" dirty="0" smtClean="0"/>
              <a:t>.</a:t>
            </a:r>
          </a:p>
          <a:p>
            <a:pPr marL="457200" lvl="1" indent="0">
              <a:buNone/>
            </a:pPr>
            <a:r>
              <a:rPr lang="en-US" sz="1800" dirty="0" smtClean="0"/>
              <a:t>	Predicting the future is a complex task that requires the knowledge of Math, History and Information Technologies. While anyone can make simple predictions that don’t require much knowledge. They can be related to our lives and also we can just watch how the world works and knowing this we can make some predictions. But these predictions will not tell what the future really is, they only have 50% chance of coming true. But if we want to predict the future in long-term with certainty we have to work on this using our knowledge and complex calculations based on mathematical models. As we all know, our future depends on our work. It has many different variants. And we have to make decisions to know which way is right for us.</a:t>
            </a:r>
          </a:p>
        </p:txBody>
      </p:sp>
    </p:spTree>
    <p:extLst>
      <p:ext uri="{BB962C8B-B14F-4D97-AF65-F5344CB8AC3E}">
        <p14:creationId xmlns:p14="http://schemas.microsoft.com/office/powerpoint/2010/main" val="1551565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EFFECTS</a:t>
            </a:r>
            <a:endParaRPr lang="de-CH" dirty="0"/>
          </a:p>
        </p:txBody>
      </p:sp>
      <p:sp>
        <p:nvSpPr>
          <p:cNvPr id="3" name="Content Placeholder 2"/>
          <p:cNvSpPr>
            <a:spLocks noGrp="1"/>
          </p:cNvSpPr>
          <p:nvPr>
            <p:ph idx="1"/>
          </p:nvPr>
        </p:nvSpPr>
        <p:spPr/>
        <p:txBody>
          <a:bodyPr>
            <a:normAutofit/>
          </a:bodyPr>
          <a:lstStyle/>
          <a:p>
            <a:pPr marL="457200" lvl="1" indent="0">
              <a:buNone/>
            </a:pPr>
            <a:r>
              <a:rPr lang="en-US" sz="1800" dirty="0" smtClean="0"/>
              <a:t>We all know that our world is experiencing global warming. Even my grandparents didn’t live through this extremely warm weather. When they were young the winters were cold and harsh and lasted for long and summers were very mild with temperatures below 25 degrees. They couldn’t imagine that in the next century the summers will become very hot and dry and winters last only for a month. Global warming affected our climate significantly. It is likely caused by excessive production of carbon dioxide which is produced by humans. The industrial development not only made our lives more comfortable and easier but also affected our climate. It seems that in a couple of centuries the global temperatures will rise to the level when we will not have winters anymore. And the increase in global temperature also make the Arctic and Antarctic ice caps melt which will lead to significant floods and tsunamis. Also with excessive production of CO2 our atmosphere might become unbreathable in the future. For avoiding this we have to reduce pollution and find cleaner ways to use the power.</a:t>
            </a:r>
            <a:endParaRPr lang="de-CH" sz="1800" dirty="0"/>
          </a:p>
        </p:txBody>
      </p:sp>
    </p:spTree>
    <p:extLst>
      <p:ext uri="{BB962C8B-B14F-4D97-AF65-F5344CB8AC3E}">
        <p14:creationId xmlns:p14="http://schemas.microsoft.com/office/powerpoint/2010/main" val="1311139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CIVILIZATION</a:t>
            </a:r>
            <a:endParaRPr lang="de-CH" dirty="0"/>
          </a:p>
        </p:txBody>
      </p:sp>
      <p:sp>
        <p:nvSpPr>
          <p:cNvPr id="3" name="Content Placeholder 2"/>
          <p:cNvSpPr>
            <a:spLocks noGrp="1"/>
          </p:cNvSpPr>
          <p:nvPr>
            <p:ph idx="1"/>
          </p:nvPr>
        </p:nvSpPr>
        <p:spPr/>
        <p:txBody>
          <a:bodyPr>
            <a:normAutofit fontScale="85000" lnSpcReduction="20000"/>
          </a:bodyPr>
          <a:lstStyle/>
          <a:p>
            <a:pPr marL="0" indent="0">
              <a:buNone/>
            </a:pPr>
            <a:r>
              <a:rPr lang="en-US" sz="1800" dirty="0"/>
              <a:t>	</a:t>
            </a:r>
            <a:r>
              <a:rPr lang="en-US" sz="1800" dirty="0" smtClean="0"/>
              <a:t>Scientists predict as we progress into the future our civilization evolve. There are several types of civilization that could theoretically be our future. They are measured by </a:t>
            </a:r>
            <a:r>
              <a:rPr lang="en-US" sz="1800" dirty="0" err="1" smtClean="0"/>
              <a:t>Kardashev</a:t>
            </a:r>
            <a:r>
              <a:rPr lang="en-US" sz="1800" dirty="0" smtClean="0"/>
              <a:t> scale. Russian scientist Nikolai </a:t>
            </a:r>
            <a:r>
              <a:rPr lang="en-US" sz="1800" dirty="0" err="1" smtClean="0"/>
              <a:t>Kardashev</a:t>
            </a:r>
            <a:r>
              <a:rPr lang="en-US" sz="1800" dirty="0" smtClean="0"/>
              <a:t> discovered 3 types of civilization that will become our future. But also this scale can be extended. But these types are hypothetical. Here’s a breakdown:</a:t>
            </a:r>
          </a:p>
          <a:p>
            <a:pPr marL="0" indent="0">
              <a:buNone/>
            </a:pPr>
            <a:r>
              <a:rPr lang="en-US" sz="1800" dirty="0"/>
              <a:t>	</a:t>
            </a:r>
            <a:r>
              <a:rPr lang="en-US" sz="1800" dirty="0" smtClean="0"/>
              <a:t>Type 0 civilization. This is a civilization which uses fossil fuels and it’s the type to which belongs our civilization. While it’s hard to believe that we’re still type 0, but we have no control over natural disasters which is why we can’t be considered higher. But actually scientists say we’re about type 0.72.</a:t>
            </a:r>
          </a:p>
          <a:p>
            <a:pPr marL="0" indent="0">
              <a:buNone/>
            </a:pPr>
            <a:r>
              <a:rPr lang="en-US" sz="1800" dirty="0"/>
              <a:t>	</a:t>
            </a:r>
            <a:r>
              <a:rPr lang="en-US" sz="1800" dirty="0" smtClean="0"/>
              <a:t>Type 1 civilization. In this type we will be able to use all the power of the Earth. This will allow us to control weather. Also use the forces of natural disasters as a power for our cities. This will make earth much more hospitable and comfortable place. Scientists say we will reach this type in 100-200 years</a:t>
            </a:r>
          </a:p>
          <a:p>
            <a:pPr marL="0" indent="0">
              <a:buNone/>
            </a:pPr>
            <a:r>
              <a:rPr lang="en-US" sz="1800" dirty="0"/>
              <a:t>	</a:t>
            </a:r>
            <a:r>
              <a:rPr lang="en-US" sz="1800" dirty="0" smtClean="0"/>
              <a:t>Type 2 civilization. When we reach this type of civilization, we will be able to use all the power of the sun. This will lead to building </a:t>
            </a:r>
            <a:r>
              <a:rPr lang="en-US" sz="1800" dirty="0" err="1" smtClean="0"/>
              <a:t>megastructures</a:t>
            </a:r>
            <a:r>
              <a:rPr lang="en-US" sz="1800" dirty="0" smtClean="0"/>
              <a:t> around the sun like Dyson sphere. This </a:t>
            </a:r>
            <a:r>
              <a:rPr lang="en-US" sz="1800" dirty="0" err="1" smtClean="0"/>
              <a:t>megastructure</a:t>
            </a:r>
            <a:r>
              <a:rPr lang="en-US" sz="1800" dirty="0" smtClean="0"/>
              <a:t> will be built around the sun and will harness it’s power. Then this power will be sent on earth to power up our cities. In this type humans may not be biological creatures anymore. We will likely become cyborgs which are the mixture of machine or Artificial Intelligence with human body. This will allow us to have near infinite capabilities like flying, shape-shifting and thought communication. Scientists say we’ll get there in a few thousand years.</a:t>
            </a:r>
          </a:p>
          <a:p>
            <a:pPr marL="0" indent="0">
              <a:buNone/>
            </a:pPr>
            <a:r>
              <a:rPr lang="en-US" sz="1800" dirty="0"/>
              <a:t>	</a:t>
            </a:r>
            <a:r>
              <a:rPr lang="en-US" sz="1800" dirty="0" smtClean="0"/>
              <a:t>Type 3 civilization. In this type of civilization we will use the power of our galaxy. This will create almost infinite possibilities like space travel, including interstellar travels, creating different planets and stars just using our technology and maybe even time travel.</a:t>
            </a:r>
            <a:r>
              <a:rPr lang="de-CH" sz="1800" dirty="0" smtClean="0"/>
              <a:t> </a:t>
            </a:r>
            <a:r>
              <a:rPr lang="de-CH" sz="1800" dirty="0" err="1" smtClean="0"/>
              <a:t>It</a:t>
            </a:r>
            <a:r>
              <a:rPr lang="de-CH" sz="1800" dirty="0" smtClean="0"/>
              <a:t> will </a:t>
            </a:r>
            <a:r>
              <a:rPr lang="de-CH" sz="1800" dirty="0" err="1" smtClean="0"/>
              <a:t>likely</a:t>
            </a:r>
            <a:r>
              <a:rPr lang="de-CH" sz="1800" dirty="0" smtClean="0"/>
              <a:t> </a:t>
            </a:r>
            <a:r>
              <a:rPr lang="de-CH" sz="1800" dirty="0" err="1" smtClean="0"/>
              <a:t>take</a:t>
            </a:r>
            <a:r>
              <a:rPr lang="de-CH" sz="1800" dirty="0" smtClean="0"/>
              <a:t> a </a:t>
            </a:r>
            <a:r>
              <a:rPr lang="de-CH" sz="1800" dirty="0" err="1" smtClean="0"/>
              <a:t>few</a:t>
            </a:r>
            <a:r>
              <a:rPr lang="de-CH" sz="1800" dirty="0" smtClean="0"/>
              <a:t> </a:t>
            </a:r>
            <a:r>
              <a:rPr lang="de-CH" sz="1800" dirty="0" err="1" smtClean="0"/>
              <a:t>hundred</a:t>
            </a:r>
            <a:r>
              <a:rPr lang="de-CH" sz="1800" dirty="0" smtClean="0"/>
              <a:t> </a:t>
            </a:r>
            <a:r>
              <a:rPr lang="de-CH" sz="1800" dirty="0" err="1" smtClean="0"/>
              <a:t>thousand</a:t>
            </a:r>
            <a:r>
              <a:rPr lang="de-CH" sz="1800" dirty="0" smtClean="0"/>
              <a:t> </a:t>
            </a:r>
            <a:r>
              <a:rPr lang="de-CH" sz="1800" dirty="0" err="1" smtClean="0"/>
              <a:t>years</a:t>
            </a:r>
            <a:r>
              <a:rPr lang="de-CH" sz="1800" dirty="0" smtClean="0"/>
              <a:t> </a:t>
            </a:r>
            <a:r>
              <a:rPr lang="de-CH" sz="1800" dirty="0" err="1" smtClean="0"/>
              <a:t>to</a:t>
            </a:r>
            <a:r>
              <a:rPr lang="de-CH" sz="1800" dirty="0" smtClean="0"/>
              <a:t> </a:t>
            </a:r>
            <a:r>
              <a:rPr lang="de-CH" sz="1800" dirty="0" err="1" smtClean="0"/>
              <a:t>get</a:t>
            </a:r>
            <a:r>
              <a:rPr lang="de-CH" sz="1800" dirty="0" smtClean="0"/>
              <a:t> </a:t>
            </a:r>
            <a:r>
              <a:rPr lang="de-CH" sz="1800" dirty="0" err="1" smtClean="0"/>
              <a:t>there</a:t>
            </a:r>
            <a:r>
              <a:rPr lang="de-CH" sz="1800" dirty="0" smtClean="0"/>
              <a:t>.</a:t>
            </a:r>
          </a:p>
          <a:p>
            <a:pPr marL="0" indent="0">
              <a:buNone/>
            </a:pPr>
            <a:r>
              <a:rPr lang="en-US" sz="1800" dirty="0"/>
              <a:t>	</a:t>
            </a:r>
            <a:r>
              <a:rPr lang="en-US" sz="1800" dirty="0" smtClean="0"/>
              <a:t>Also there are hypothetical 4 and 5 types that will allow us to use the power of the Universe, create new universes and travel in time. But no one knows if it is possible to go that far, so these 3 types are more likely to happen.</a:t>
            </a:r>
          </a:p>
        </p:txBody>
      </p:sp>
    </p:spTree>
    <p:extLst>
      <p:ext uri="{BB962C8B-B14F-4D97-AF65-F5344CB8AC3E}">
        <p14:creationId xmlns:p14="http://schemas.microsoft.com/office/powerpoint/2010/main" val="652985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INFUENCE OF ARTIFICIAL INTELLIGENCE</a:t>
            </a:r>
            <a:endParaRPr lang="de-CH" dirty="0"/>
          </a:p>
        </p:txBody>
      </p:sp>
      <p:sp>
        <p:nvSpPr>
          <p:cNvPr id="3" name="Content Placeholder 2"/>
          <p:cNvSpPr>
            <a:spLocks noGrp="1"/>
          </p:cNvSpPr>
          <p:nvPr>
            <p:ph idx="1"/>
          </p:nvPr>
        </p:nvSpPr>
        <p:spPr/>
        <p:txBody>
          <a:bodyPr>
            <a:normAutofit fontScale="92500" lnSpcReduction="20000"/>
          </a:bodyPr>
          <a:lstStyle/>
          <a:p>
            <a:pPr marL="0" indent="0">
              <a:buNone/>
            </a:pPr>
            <a:r>
              <a:rPr lang="en-US" sz="1800" dirty="0" smtClean="0"/>
              <a:t>	The development of Artificial Intelligence in a crucial period that defines our future. The emergence of AI influenced our world significantly. Now it’s evolving rapidly allowing us to communicate with it create pictures, songs, other forms of art and many more. Although there are many positive consequences but also there come the challenges. Scientists predict one day that AI </a:t>
            </a:r>
            <a:r>
              <a:rPr lang="en-US" sz="1800" dirty="0" err="1" smtClean="0"/>
              <a:t>oversmarts</a:t>
            </a:r>
            <a:r>
              <a:rPr lang="en-US" sz="1800" dirty="0" smtClean="0"/>
              <a:t> humans by it’s intelligence. That will create significant challenges that can potentially destroy humanity. Although many people don’t see anything bad in this, but we still have to be cautious.</a:t>
            </a:r>
          </a:p>
          <a:p>
            <a:pPr marL="0" indent="0">
              <a:buNone/>
            </a:pPr>
            <a:r>
              <a:rPr lang="en-US" sz="1800" dirty="0"/>
              <a:t>	</a:t>
            </a:r>
            <a:r>
              <a:rPr lang="en-US" sz="1800" dirty="0" smtClean="0"/>
              <a:t>Max </a:t>
            </a:r>
            <a:r>
              <a:rPr lang="en-US" sz="1800" dirty="0" err="1" smtClean="0"/>
              <a:t>Tegmark</a:t>
            </a:r>
            <a:r>
              <a:rPr lang="en-US" sz="1800" dirty="0" smtClean="0"/>
              <a:t> in his book “Life 3.0” considers several ways how the AI will interact with humans once it outsmarts us.</a:t>
            </a:r>
          </a:p>
          <a:p>
            <a:pPr marL="0" indent="0">
              <a:buNone/>
            </a:pPr>
            <a:r>
              <a:rPr lang="en-US" sz="1800" dirty="0"/>
              <a:t>	</a:t>
            </a:r>
            <a:r>
              <a:rPr lang="en-US" sz="1800" dirty="0" smtClean="0"/>
              <a:t>1. A libertarian utopia. This variant in my opinion, is one of the best. In this case humans and AI will live peacefully due to their rights of privacy.</a:t>
            </a:r>
          </a:p>
          <a:p>
            <a:pPr marL="0" indent="0">
              <a:buNone/>
            </a:pPr>
            <a:r>
              <a:rPr lang="en-US" sz="1800" dirty="0"/>
              <a:t>	</a:t>
            </a:r>
            <a:r>
              <a:rPr lang="en-US" sz="1800" dirty="0" smtClean="0"/>
              <a:t>2. The good dictator.  AI will create the strict rules for people, but most people will support AI.</a:t>
            </a:r>
          </a:p>
          <a:p>
            <a:pPr marL="0" indent="0">
              <a:buNone/>
            </a:pPr>
            <a:r>
              <a:rPr lang="en-US" sz="1800" dirty="0"/>
              <a:t>	</a:t>
            </a:r>
            <a:r>
              <a:rPr lang="en-US" sz="1800" dirty="0" smtClean="0"/>
              <a:t>3. Watcher. AI will become super-intelligent but it’s impact on humans will be minimal for avoiding the creation of new super-intelligence. There will be many robots and cyborgs that will be less intelligent than humans but technological progress will stop completely.</a:t>
            </a:r>
          </a:p>
          <a:p>
            <a:pPr marL="0" indent="0">
              <a:buNone/>
            </a:pPr>
            <a:r>
              <a:rPr lang="en-US" sz="1800" dirty="0" smtClean="0"/>
              <a:t>	4. God’s deputy. AI will become powerful to control us but won’t make harm for people and we will live in an illusion of our control of the world. We will not know about existence of AI.</a:t>
            </a:r>
          </a:p>
          <a:p>
            <a:pPr marL="0" indent="0">
              <a:buNone/>
            </a:pPr>
            <a:r>
              <a:rPr lang="en-US" sz="1800" dirty="0"/>
              <a:t>	</a:t>
            </a:r>
            <a:r>
              <a:rPr lang="en-US" sz="1800" dirty="0" smtClean="0"/>
              <a:t>5. Enslaved god. Humans will use super-intelligent AI to create </a:t>
            </a:r>
            <a:r>
              <a:rPr lang="en-US" sz="1800" smtClean="0"/>
              <a:t>new technologies.</a:t>
            </a:r>
            <a:endParaRPr lang="de-CH" sz="1800" dirty="0"/>
          </a:p>
        </p:txBody>
      </p:sp>
    </p:spTree>
    <p:extLst>
      <p:ext uri="{BB962C8B-B14F-4D97-AF65-F5344CB8AC3E}">
        <p14:creationId xmlns:p14="http://schemas.microsoft.com/office/powerpoint/2010/main" val="4048921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314</Words>
  <Application>Microsoft Office PowerPoint</Application>
  <PresentationFormat>Custom</PresentationFormat>
  <Paragraphs>22</Paragraphs>
  <Slides>4</Slides>
  <Notes>1</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PREDICTING THE FUTURE OF HUMANITY</vt:lpstr>
      <vt:lpstr>NATURAL EFFECTS</vt:lpstr>
      <vt:lpstr>OUR CIVILIZATION</vt:lpstr>
      <vt:lpstr>INFUENCE OF ARTIFICIAL INTELLIGENCE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FUTURE OF HUMANITY</dc:title>
  <dc:creator>Andrea</dc:creator>
  <cp:lastModifiedBy>Andrea</cp:lastModifiedBy>
  <cp:revision>11</cp:revision>
  <dcterms:created xsi:type="dcterms:W3CDTF">2024-11-22T06:38:12Z</dcterms:created>
  <dcterms:modified xsi:type="dcterms:W3CDTF">2024-11-22T08:28:06Z</dcterms:modified>
</cp:coreProperties>
</file>